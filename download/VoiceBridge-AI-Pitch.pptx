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one-liner. Emphasize accessibility companion, not chatbot.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market as assistive tech + compliance, not a toy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four-step loop. Stress tool calls write real product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live mic is flaky, typed commands exercise the same intent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Prove we used the real Voice Agent API surface, not speech-to-text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Security stack is a differentiator vs typical hackathon demos.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Position against the common failure modes judges see all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pricing simple. Mention metered AssemblyAI minutes; fallback cuts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Judges score application of technology — show tests, E2E, security.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purpose. Ask for the win and the credits to go to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1645920"/>
            <a:ext cx="2011680" cy="2011680"/>
          </a:xfrm>
          <a:prstGeom prst="roundRect">
            <a:avLst>
              <a:gd name="adj" fmla="val 15000"/>
            </a:avLst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240280"/>
            <a:ext cx="1828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6400" b="1">
                <a:solidFill>
                  <a:srgbClr val="0A0E17"/>
                </a:solidFill>
                <a:latin typeface="Calibri"/>
                <a:ea typeface="Calibri"/>
              </a:rPr>
              <a:t>VB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1737360"/>
            <a:ext cx="8229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0F0FF"/>
                </a:solidFill>
                <a:latin typeface="Calibri"/>
                <a:ea typeface="Calibri"/>
              </a:rPr>
              <a:t>ASSEMBLYAI VOICE AGENT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2148840"/>
            <a:ext cx="82296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>
                <a:solidFill>
                  <a:srgbClr val="F5F7FA"/>
                </a:solidFill>
                <a:latin typeface="Calibri"/>
                <a:ea typeface="Calibri"/>
              </a:rPr>
              <a:t>VoiceBridge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971800"/>
            <a:ext cx="82296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9AA4B2"/>
                </a:solidFill>
                <a:latin typeface="Calibri"/>
                <a:ea typeface="Calibri"/>
              </a:rPr>
              <a:t>Operate the web with your voice.
A voice-first accessibility companion — not a chat wrapper.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5029200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CE0D8"/>
                </a:solidFill>
                <a:latin typeface="Calibri"/>
                <a:ea typeface="Calibri"/>
              </a:rPr>
              <a:t>Built on AssemblyAI Voice Agent API  ·  Multi-engine fallback  ·  Production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9AA4B2"/>
                </a:solidFill>
                <a:latin typeface="Calibri"/>
                <a:ea typeface="Calibri"/>
              </a:rPr>
              <a:t>VoiceBridge AI  ·  AssemblyAI Voice Agent Hackathon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9AA4B2"/>
                </a:solidFill>
                <a:latin typeface="Calibri"/>
                <a:ea typeface="Calibri"/>
              </a:rP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0F0FF"/>
                </a:solidFill>
                <a:latin typeface="Calibri"/>
                <a:ea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F5F7FA"/>
                </a:solidFill>
                <a:latin typeface="Calibri"/>
                <a:ea typeface="Calibri"/>
              </a:rPr>
              <a:t>Pixel-first UIs exclude people who need them most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1097280" cy="4572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00F0FF"/>
                </a:solidFill>
                <a:latin typeface="Calibri"/>
                <a:ea typeface="Calibri"/>
              </a:rPr>
              <a:t>▸  </a:t>
            </a:r>
            <a:r>
              <a:rPr sz="1800" b="0">
                <a:solidFill>
                  <a:srgbClr val="F5F7FA"/>
                </a:solidFill>
                <a:latin typeface="Calibri"/>
                <a:ea typeface="Calibri"/>
              </a:rPr>
              <a:t>Blind, low-vision, and motor-impaired users fight mouse-first dashboards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00F0FF"/>
                </a:solidFill>
                <a:latin typeface="Calibri"/>
                <a:ea typeface="Calibri"/>
              </a:rPr>
              <a:t>▸  </a:t>
            </a:r>
            <a:r>
              <a:rPr sz="1800" b="0">
                <a:solidFill>
                  <a:srgbClr val="F5F7FA"/>
                </a:solidFill>
                <a:latin typeface="Calibri"/>
                <a:ea typeface="Calibri"/>
              </a:rPr>
              <a:t>Most “voice UIs” are chat wrappers — they talk, they do not operate a product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00F0FF"/>
                </a:solidFill>
                <a:latin typeface="Calibri"/>
                <a:ea typeface="Calibri"/>
              </a:rPr>
              <a:t>▸  </a:t>
            </a:r>
            <a:r>
              <a:rPr sz="1800" b="0">
                <a:solidFill>
                  <a:srgbClr val="F5F7FA"/>
                </a:solidFill>
                <a:latin typeface="Calibri"/>
                <a:ea typeface="Calibri"/>
              </a:rPr>
              <a:t>When cloud STT fails, voice apps go dark for the people who need them most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645920"/>
            <a:ext cx="4846320" cy="11430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12280" y="1828800"/>
            <a:ext cx="4389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0F0FF"/>
                </a:solidFill>
                <a:latin typeface="Calibri"/>
                <a:ea typeface="Calibri"/>
              </a:rPr>
              <a:t>1B+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2286000"/>
            <a:ext cx="4389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9AA4B2"/>
                </a:solidFill>
                <a:latin typeface="Calibri"/>
                <a:ea typeface="Calibri"/>
              </a:rPr>
              <a:t>People with disabilities worldwide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3017520"/>
            <a:ext cx="4846320" cy="11430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5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3200400"/>
            <a:ext cx="4389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5CE0D8"/>
                </a:solidFill>
                <a:latin typeface="Calibri"/>
                <a:ea typeface="Calibri"/>
              </a:rPr>
              <a:t>2.2B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3657600"/>
            <a:ext cx="4389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9AA4B2"/>
                </a:solidFill>
                <a:latin typeface="Calibri"/>
                <a:ea typeface="Calibri"/>
              </a:rPr>
              <a:t>People with vision impairment (WHO)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4389120"/>
            <a:ext cx="4846320" cy="11430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FFB6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4572000"/>
            <a:ext cx="4389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FB627"/>
                </a:solidFill>
                <a:latin typeface="Calibri"/>
                <a:ea typeface="Calibri"/>
              </a:rPr>
              <a:t>WCAG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5029200"/>
            <a:ext cx="4389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9AA4B2"/>
                </a:solidFill>
                <a:latin typeface="Calibri"/>
                <a:ea typeface="Calibri"/>
              </a:rPr>
              <a:t>Legal mandates expanding globally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9AA4B2"/>
                </a:solidFill>
                <a:latin typeface="Calibri"/>
                <a:ea typeface="Calibri"/>
              </a:rPr>
              <a:t>VoiceBridge AI  ·  AssemblyAI Voice Agent Hackathon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9AA4B2"/>
                </a:solidFill>
                <a:latin typeface="Calibri"/>
                <a:ea typeface="Calibri"/>
              </a:rP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0F0FF"/>
                </a:solidFill>
                <a:latin typeface="Calibri"/>
                <a:ea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F5F7FA"/>
                </a:solidFill>
                <a:latin typeface="Calibri"/>
                <a:ea typeface="Calibri"/>
              </a:rPr>
              <a:t>A dashboard you can operate with speech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1097280" cy="4572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20"/>
            <a:ext cx="548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00F0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810512"/>
            <a:ext cx="2011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F5F7FA"/>
                </a:solidFill>
                <a:latin typeface="Calibri"/>
                <a:ea typeface="Calibri"/>
              </a:rPr>
              <a:t>Talk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901952"/>
            <a:ext cx="7680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9AA4B2"/>
                </a:solidFill>
                <a:latin typeface="Calibri"/>
                <a:ea typeface="Calibri"/>
              </a:rPr>
              <a:t>PCM16 24 kHz mic → single-use token WSS to agents.assemblyai.com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9748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926080"/>
            <a:ext cx="548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00F0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862072"/>
            <a:ext cx="2011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F5F7FA"/>
                </a:solidFill>
                <a:latin typeface="Calibri"/>
                <a:ea typeface="Calibri"/>
              </a:rPr>
              <a:t>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953512"/>
            <a:ext cx="7680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9AA4B2"/>
                </a:solidFill>
                <a:latin typeface="Calibri"/>
                <a:ea typeface="Calibri"/>
              </a:rPr>
              <a:t>Agent calls dispatch_tool → prefs, conversation, metrics, session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49039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977639"/>
            <a:ext cx="548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00F0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913631"/>
            <a:ext cx="2011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F5F7FA"/>
                </a:solidFill>
                <a:latin typeface="Calibri"/>
                <a:ea typeface="Calibri"/>
              </a:rPr>
              <a:t>Hear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005071"/>
            <a:ext cx="7680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9AA4B2"/>
                </a:solidFill>
                <a:latin typeface="Calibri"/>
                <a:ea typeface="Calibri"/>
              </a:rPr>
              <a:t>Short spoken reply + live transcript + screen-reader announcements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80060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029200"/>
            <a:ext cx="548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00F0FF"/>
                </a:solidFill>
                <a:latin typeface="Calibri"/>
                <a:ea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965192"/>
            <a:ext cx="2011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F5F7FA"/>
                </a:solidFill>
                <a:latin typeface="Calibri"/>
                <a:ea typeface="Calibri"/>
              </a:rPr>
              <a:t>Keep working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056632"/>
            <a:ext cx="7680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9AA4B2"/>
                </a:solidFill>
                <a:latin typeface="Calibri"/>
                <a:ea typeface="Calibri"/>
              </a:rPr>
              <a:t>Fallback ladder: AssemblyAI → Vosk → Web Speech → typed input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9AA4B2"/>
                </a:solidFill>
                <a:latin typeface="Calibri"/>
                <a:ea typeface="Calibri"/>
              </a:rPr>
              <a:t>VoiceBridge AI  ·  AssemblyAI Voice Agent Hackathon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9AA4B2"/>
                </a:solidFill>
                <a:latin typeface="Calibri"/>
                <a:ea typeface="Calibri"/>
              </a:rP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0F0FF"/>
                </a:solidFill>
                <a:latin typeface="Calibri"/>
                <a:ea typeface="Calibri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F5F7FA"/>
                </a:solidFill>
                <a:latin typeface="Calibri"/>
                <a:ea typeface="Calibri"/>
              </a:rPr>
              <a:t>Golden path judges can click in under two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1097280" cy="4572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00F0FF"/>
                </a:solidFill>
                <a:latin typeface="Calibri"/>
                <a:ea typeface="Calibri"/>
              </a:rPr>
              <a:t>▸  </a:t>
            </a:r>
            <a:r>
              <a:rPr sz="1700" b="0">
                <a:solidFill>
                  <a:srgbClr val="F5F7FA"/>
                </a:solidFill>
                <a:latin typeface="Calibri"/>
                <a:ea typeface="Calibri"/>
              </a:rPr>
              <a:t>Sign in → tap Power (or Space) → engine chip: AssemblyAI · healthy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00F0FF"/>
                </a:solidFill>
                <a:latin typeface="Calibri"/>
                <a:ea typeface="Calibri"/>
              </a:rPr>
              <a:t>▸  </a:t>
            </a:r>
            <a:r>
              <a:rPr sz="1700" b="0">
                <a:solidFill>
                  <a:srgbClr val="F5F7FA"/>
                </a:solidFill>
                <a:latin typeface="Calibri"/>
                <a:ea typeface="Calibri"/>
              </a:rPr>
              <a:t>“Open metrics” — panel navigation with spoken confirmation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00F0FF"/>
                </a:solidFill>
                <a:latin typeface="Calibri"/>
                <a:ea typeface="Calibri"/>
              </a:rPr>
              <a:t>▸  </a:t>
            </a:r>
            <a:r>
              <a:rPr sz="1700" b="0">
                <a:solidFill>
                  <a:srgbClr val="F5F7FA"/>
                </a:solidFill>
                <a:latin typeface="Calibri"/>
                <a:ea typeface="Calibri"/>
              </a:rPr>
              <a:t>“Speak faster” — agent writes preferences via dispatch_tool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00F0FF"/>
                </a:solidFill>
                <a:latin typeface="Calibri"/>
                <a:ea typeface="Calibri"/>
              </a:rPr>
              <a:t>▸  </a:t>
            </a:r>
            <a:r>
              <a:rPr sz="1700" b="0">
                <a:solidFill>
                  <a:srgbClr val="F5F7FA"/>
                </a:solidFill>
                <a:latin typeface="Calibri"/>
                <a:ea typeface="Calibri"/>
              </a:rPr>
              <a:t>“Describe the page” — audible DOM/visual summary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00F0FF"/>
                </a:solidFill>
                <a:latin typeface="Calibri"/>
                <a:ea typeface="Calibri"/>
              </a:rPr>
              <a:t>▸  </a:t>
            </a:r>
            <a:r>
              <a:rPr sz="1700" b="0">
                <a:solidFill>
                  <a:srgbClr val="F5F7FA"/>
                </a:solidFill>
                <a:latin typeface="Calibri"/>
                <a:ea typeface="Calibri"/>
              </a:rPr>
              <a:t>“How did I do today?” — spoken session metrics from the DB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00F0FF"/>
                </a:solidFill>
                <a:latin typeface="Calibri"/>
                <a:ea typeface="Calibri"/>
              </a:rPr>
              <a:t>▸  </a:t>
            </a:r>
            <a:r>
              <a:rPr sz="1700" b="0">
                <a:solidFill>
                  <a:srgbClr val="F5F7FA"/>
                </a:solidFill>
                <a:latin typeface="Calibri"/>
                <a:ea typeface="Calibri"/>
              </a:rPr>
              <a:t>Kill the network → typed commands still work (fallback ladder)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645920"/>
            <a:ext cx="3840480" cy="41148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1920240"/>
            <a:ext cx="3383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0F0FF"/>
                </a:solidFill>
                <a:latin typeface="Calibri"/>
                <a:ea typeface="Calibri"/>
              </a:rPr>
              <a:t>DEMO CHECKLIST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237744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51CF66"/>
                </a:solidFill>
                <a:latin typeface="Calibri"/>
                <a:ea typeface="Calibri"/>
              </a:rPr>
              <a:t>▸  </a:t>
            </a:r>
            <a:r>
              <a:rPr sz="1400" b="0">
                <a:solidFill>
                  <a:srgbClr val="F5F7FA"/>
                </a:solidFill>
                <a:latin typeface="Calibri"/>
                <a:ea typeface="Calibri"/>
              </a:rPr>
              <a:t>Power connects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51CF66"/>
                </a:solidFill>
                <a:latin typeface="Calibri"/>
                <a:ea typeface="Calibri"/>
              </a:rPr>
              <a:t>▸  </a:t>
            </a:r>
            <a:r>
              <a:rPr sz="1400" b="0">
                <a:solidFill>
                  <a:srgbClr val="F5F7FA"/>
                </a:solidFill>
                <a:latin typeface="Calibri"/>
                <a:ea typeface="Calibri"/>
              </a:rPr>
              <a:t>Voice intent navigates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51CF66"/>
                </a:solidFill>
                <a:latin typeface="Calibri"/>
                <a:ea typeface="Calibri"/>
              </a:rPr>
              <a:t>▸  </a:t>
            </a:r>
            <a:r>
              <a:rPr sz="1400" b="0">
                <a:solidFill>
                  <a:srgbClr val="F5F7FA"/>
                </a:solidFill>
                <a:latin typeface="Calibri"/>
                <a:ea typeface="Calibri"/>
              </a:rPr>
              <a:t>Tool writes prefs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51CF66"/>
                </a:solidFill>
                <a:latin typeface="Calibri"/>
                <a:ea typeface="Calibri"/>
              </a:rPr>
              <a:t>▸  </a:t>
            </a:r>
            <a:r>
              <a:rPr sz="1400" b="0">
                <a:solidFill>
                  <a:srgbClr val="F5F7FA"/>
                </a:solidFill>
                <a:latin typeface="Calibri"/>
                <a:ea typeface="Calibri"/>
              </a:rPr>
              <a:t>Metrics speak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51CF66"/>
                </a:solidFill>
                <a:latin typeface="Calibri"/>
                <a:ea typeface="Calibri"/>
              </a:rPr>
              <a:t>▸  </a:t>
            </a:r>
            <a:r>
              <a:rPr sz="1400" b="0">
                <a:solidFill>
                  <a:srgbClr val="F5F7FA"/>
                </a:solidFill>
                <a:latin typeface="Calibri"/>
                <a:ea typeface="Calibri"/>
              </a:rPr>
              <a:t>Offline fallback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51CF66"/>
                </a:solidFill>
                <a:latin typeface="Calibri"/>
                <a:ea typeface="Calibri"/>
              </a:rPr>
              <a:t>▸  </a:t>
            </a:r>
            <a:r>
              <a:rPr sz="1400" b="0">
                <a:solidFill>
                  <a:srgbClr val="F5F7FA"/>
                </a:solidFill>
                <a:latin typeface="Calibri"/>
                <a:ea typeface="Calibri"/>
              </a:rPr>
              <a:t>Alt+1–7 shortcuts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9AA4B2"/>
                </a:solidFill>
                <a:latin typeface="Calibri"/>
                <a:ea typeface="Calibri"/>
              </a:rPr>
              <a:t>VoiceBridge AI  ·  AssemblyAI Voice Agent Hackathon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9AA4B2"/>
                </a:solidFill>
                <a:latin typeface="Calibri"/>
                <a:ea typeface="Calibri"/>
              </a:rP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0F0FF"/>
                </a:solidFill>
                <a:latin typeface="Calibri"/>
                <a:ea typeface="Calibri"/>
              </a:rPr>
              <a:t>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F5F7FA"/>
                </a:solidFill>
                <a:latin typeface="Calibri"/>
                <a:ea typeface="Calibri"/>
              </a:rPr>
              <a:t>Why AssemblyAI Voice Agent — not a generic STT wrapper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1097280" cy="4572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0972800" cy="64008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0F0FF"/>
                </a:solidFill>
                <a:latin typeface="Calibri"/>
                <a:ea typeface="Calibri"/>
              </a:rPr>
              <a:t>Voice Agent 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764792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9AA4B2"/>
                </a:solidFill>
                <a:latin typeface="Calibri"/>
                <a:ea typeface="Calibri"/>
              </a:rPr>
              <a:t>Full-duplex listen + speak on one socket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10972800" cy="64008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96312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0F0FF"/>
                </a:solidFill>
                <a:latin typeface="Calibri"/>
                <a:ea typeface="Calibri"/>
              </a:rPr>
              <a:t>Stored agent_id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496312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9AA4B2"/>
                </a:solidFill>
                <a:latin typeface="Calibri"/>
                <a:ea typeface="Calibri"/>
              </a:rPr>
              <a:t>Prompt, voice, keyterms, tools configured once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063240"/>
            <a:ext cx="10972800" cy="64008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227832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0F0FF"/>
                </a:solidFill>
                <a:latin typeface="Calibri"/>
                <a:ea typeface="Calibri"/>
              </a:rPr>
              <a:t>Single-use tokens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3227832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9AA4B2"/>
                </a:solidFill>
                <a:latin typeface="Calibri"/>
                <a:ea typeface="Calibri"/>
              </a:rPr>
              <a:t>API key never leaves the server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94760"/>
            <a:ext cx="10972800" cy="64008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959352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0F0FF"/>
                </a:solidFill>
                <a:latin typeface="Calibri"/>
                <a:ea typeface="Calibri"/>
              </a:rPr>
              <a:t>Function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959352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9AA4B2"/>
                </a:solidFill>
                <a:latin typeface="Calibri"/>
                <a:ea typeface="Calibri"/>
              </a:rPr>
              <a:t>dispatch_tool → tool.call / tool.result loop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526280"/>
            <a:ext cx="10972800" cy="64008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690872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0F0FF"/>
                </a:solidFill>
                <a:latin typeface="Calibri"/>
                <a:ea typeface="Calibri"/>
              </a:rPr>
              <a:t>Interruption / VAD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4690872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9AA4B2"/>
                </a:solidFill>
                <a:latin typeface="Calibri"/>
                <a:ea typeface="Calibri"/>
              </a:rPr>
              <a:t>Barge-in flushes local playback cleanly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257800"/>
            <a:ext cx="10972800" cy="64008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422392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0F0FF"/>
                </a:solidFill>
                <a:latin typeface="Calibri"/>
                <a:ea typeface="Calibri"/>
              </a:rPr>
              <a:t>Session lifecycle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5422392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9AA4B2"/>
                </a:solidFill>
                <a:latin typeface="Calibri"/>
                <a:ea typeface="Calibri"/>
              </a:rPr>
              <a:t>session.end + auto-resume in the 30s window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9AA4B2"/>
                </a:solidFill>
                <a:latin typeface="Calibri"/>
                <a:ea typeface="Calibri"/>
              </a:rPr>
              <a:t>VoiceBridge AI  ·  AssemblyAI Voice Agent Hackathon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9AA4B2"/>
                </a:solidFill>
                <a:latin typeface="Calibri"/>
                <a:ea typeface="Calibri"/>
              </a:rP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0F0FF"/>
                </a:solidFill>
                <a:latin typeface="Calibri"/>
                <a:ea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F5F7FA"/>
                </a:solidFill>
                <a:latin typeface="Calibri"/>
                <a:ea typeface="Calibri"/>
              </a:rPr>
              <a:t>Browser + server + AssemblyAI, fail-closed 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1097280" cy="4572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566160" cy="402336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0F0FF"/>
                </a:solidFill>
                <a:latin typeface="Calibri"/>
                <a:ea typeface="Calibri"/>
              </a:rPr>
              <a:t>Browser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3108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00F0FF"/>
                </a:solidFill>
                <a:latin typeface="Calibri"/>
                <a:ea typeface="Calibri"/>
              </a:rPr>
              <a:t>▸  </a:t>
            </a:r>
            <a:r>
              <a:rPr sz="1400" b="0">
                <a:solidFill>
                  <a:srgbClr val="F5F7FA"/>
                </a:solidFill>
                <a:latin typeface="Calibri"/>
                <a:ea typeface="Calibri"/>
              </a:rPr>
              <a:t>Next.js dashboard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00F0FF"/>
                </a:solidFill>
                <a:latin typeface="Calibri"/>
                <a:ea typeface="Calibri"/>
              </a:rPr>
              <a:t>▸  </a:t>
            </a:r>
            <a:r>
              <a:rPr sz="1400" b="0">
                <a:solidFill>
                  <a:srgbClr val="F5F7FA"/>
                </a:solidFill>
                <a:latin typeface="Calibri"/>
                <a:ea typeface="Calibri"/>
              </a:rPr>
              <a:t>PCM worklet 24 kHz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00F0FF"/>
                </a:solidFill>
                <a:latin typeface="Calibri"/>
                <a:ea typeface="Calibri"/>
              </a:rPr>
              <a:t>▸  </a:t>
            </a:r>
            <a:r>
              <a:rPr sz="1400" b="0">
                <a:solidFill>
                  <a:srgbClr val="F5F7FA"/>
                </a:solidFill>
                <a:latin typeface="Calibri"/>
                <a:ea typeface="Calibri"/>
              </a:rPr>
              <a:t>Local client actions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00F0FF"/>
                </a:solidFill>
                <a:latin typeface="Calibri"/>
                <a:ea typeface="Calibri"/>
              </a:rPr>
              <a:t>▸  </a:t>
            </a:r>
            <a:r>
              <a:rPr sz="1400" b="0">
                <a:solidFill>
                  <a:srgbClr val="F5F7FA"/>
                </a:solidFill>
                <a:latin typeface="Calibri"/>
                <a:ea typeface="Calibri"/>
              </a:rPr>
              <a:t>Engine ladder UI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45920"/>
            <a:ext cx="3566160" cy="402336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5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874519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5CE0D8"/>
                </a:solidFill>
                <a:latin typeface="Calibri"/>
                <a:ea typeface="Calibri"/>
              </a:rPr>
              <a:t>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377440"/>
            <a:ext cx="3108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5CE0D8"/>
                </a:solidFill>
                <a:latin typeface="Calibri"/>
                <a:ea typeface="Calibri"/>
              </a:rPr>
              <a:t>▸  </a:t>
            </a:r>
            <a:r>
              <a:rPr sz="1400" b="0">
                <a:solidFill>
                  <a:srgbClr val="F5F7FA"/>
                </a:solidFill>
                <a:latin typeface="Calibri"/>
                <a:ea typeface="Calibri"/>
              </a:rPr>
              <a:t>/api/agent/token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5CE0D8"/>
                </a:solidFill>
                <a:latin typeface="Calibri"/>
                <a:ea typeface="Calibri"/>
              </a:rPr>
              <a:t>▸  </a:t>
            </a:r>
            <a:r>
              <a:rPr sz="1400" b="0">
                <a:solidFill>
                  <a:srgbClr val="F5F7FA"/>
                </a:solidFill>
                <a:latin typeface="Calibri"/>
                <a:ea typeface="Calibri"/>
              </a:rPr>
              <a:t>/api/agent/tools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5CE0D8"/>
                </a:solidFill>
                <a:latin typeface="Calibri"/>
                <a:ea typeface="Calibri"/>
              </a:rPr>
              <a:t>▸  </a:t>
            </a:r>
            <a:r>
              <a:rPr sz="1400" b="0">
                <a:solidFill>
                  <a:srgbClr val="F5F7FA"/>
                </a:solidFill>
                <a:latin typeface="Calibri"/>
                <a:ea typeface="Calibri"/>
              </a:rPr>
              <a:t>/api/stt/fallback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5CE0D8"/>
                </a:solidFill>
                <a:latin typeface="Calibri"/>
                <a:ea typeface="Calibri"/>
              </a:rPr>
              <a:t>▸  </a:t>
            </a:r>
            <a:r>
              <a:rPr sz="1400" b="0">
                <a:solidFill>
                  <a:srgbClr val="F5F7FA"/>
                </a:solidFill>
                <a:latin typeface="Calibri"/>
                <a:ea typeface="Calibri"/>
              </a:rPr>
              <a:t>Prisma + SQLite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645920"/>
            <a:ext cx="3566160" cy="402336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FFB6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1874519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B627"/>
                </a:solidFill>
                <a:latin typeface="Calibri"/>
                <a:ea typeface="Calibri"/>
              </a:rPr>
              <a:t>AssemblyAI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377440"/>
            <a:ext cx="3108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FB627"/>
                </a:solidFill>
                <a:latin typeface="Calibri"/>
                <a:ea typeface="Calibri"/>
              </a:rPr>
              <a:t>▸  </a:t>
            </a:r>
            <a:r>
              <a:rPr sz="1400" b="0">
                <a:solidFill>
                  <a:srgbClr val="F5F7FA"/>
                </a:solidFill>
                <a:latin typeface="Calibri"/>
                <a:ea typeface="Calibri"/>
              </a:rPr>
              <a:t>Stored Voice Agent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FFB627"/>
                </a:solidFill>
                <a:latin typeface="Calibri"/>
                <a:ea typeface="Calibri"/>
              </a:rPr>
              <a:t>▸  </a:t>
            </a:r>
            <a:r>
              <a:rPr sz="1400" b="0">
                <a:solidFill>
                  <a:srgbClr val="F5F7FA"/>
                </a:solidFill>
                <a:latin typeface="Calibri"/>
                <a:ea typeface="Calibri"/>
              </a:rPr>
              <a:t>Realtime WS session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FFB627"/>
                </a:solidFill>
                <a:latin typeface="Calibri"/>
                <a:ea typeface="Calibri"/>
              </a:rPr>
              <a:t>▸  </a:t>
            </a:r>
            <a:r>
              <a:rPr sz="1400" b="0">
                <a:solidFill>
                  <a:srgbClr val="F5F7FA"/>
                </a:solidFill>
                <a:latin typeface="Calibri"/>
                <a:ea typeface="Calibri"/>
              </a:rPr>
              <a:t>LLM + TTS + VAD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FFB627"/>
                </a:solidFill>
                <a:latin typeface="Calibri"/>
                <a:ea typeface="Calibri"/>
              </a:rPr>
              <a:t>▸  </a:t>
            </a:r>
            <a:r>
              <a:rPr sz="1400" b="0">
                <a:solidFill>
                  <a:srgbClr val="F5F7FA"/>
                </a:solidFill>
                <a:latin typeface="Calibri"/>
                <a:ea typeface="Calibri"/>
              </a:rPr>
              <a:t>tool.call events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AA4B2"/>
                </a:solidFill>
                <a:latin typeface="Calibri"/>
                <a:ea typeface="Calibri"/>
              </a:rPr>
              <a:t>Security: signed HttpOnly sessions · CSRF double-submit · rate limits · bot/scanner block · AES-256-GCM · audit 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9AA4B2"/>
                </a:solidFill>
                <a:latin typeface="Calibri"/>
                <a:ea typeface="Calibri"/>
              </a:rPr>
              <a:t>VoiceBridge AI  ·  AssemblyAI Voice Agent Hackathon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9AA4B2"/>
                </a:solidFill>
                <a:latin typeface="Calibri"/>
                <a:ea typeface="Calibri"/>
              </a:rP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0F0FF"/>
                </a:solidFill>
                <a:latin typeface="Calibri"/>
                <a:ea typeface="Calibri"/>
              </a:rPr>
              <a:t>DIFFERENTIATION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F5F7FA"/>
                </a:solidFill>
                <a:latin typeface="Calibri"/>
                <a:ea typeface="Calibri"/>
              </a:rPr>
              <a:t>Not another chat wrapper on a 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1097280" cy="4572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10972800" cy="73152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F6B6B"/>
                </a:solidFill>
                <a:latin typeface="Calibri"/>
                <a:ea typeface="Calibri"/>
              </a:rPr>
              <a:t>Chat wrapper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828800"/>
            <a:ext cx="7132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9AA4B2"/>
                </a:solidFill>
                <a:latin typeface="Calibri"/>
                <a:ea typeface="Calibri"/>
              </a:rPr>
              <a:t>No product actions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514600"/>
            <a:ext cx="10972800" cy="73152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F6B6B"/>
                </a:solidFill>
                <a:latin typeface="Calibri"/>
                <a:ea typeface="Calibri"/>
              </a:rPr>
              <a:t>Pure STT captions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697480"/>
            <a:ext cx="7132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9AA4B2"/>
                </a:solidFill>
                <a:latin typeface="Calibri"/>
                <a:ea typeface="Calibri"/>
              </a:rPr>
              <a:t>Passive — cannot 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383280"/>
            <a:ext cx="10972800" cy="73152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FFB6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56616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FB627"/>
                </a:solidFill>
                <a:latin typeface="Calibri"/>
                <a:ea typeface="Calibri"/>
              </a:rPr>
              <a:t>Offline-only STT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3566160"/>
            <a:ext cx="7132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9AA4B2"/>
                </a:solidFill>
                <a:latin typeface="Calibri"/>
                <a:ea typeface="Calibri"/>
              </a:rPr>
              <a:t>Weak LLM &amp; tools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251959"/>
            <a:ext cx="10972800" cy="73152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FFB6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34839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FB627"/>
                </a:solidFill>
                <a:latin typeface="Calibri"/>
                <a:ea typeface="Calibri"/>
              </a:rPr>
              <a:t>Cloud-only demo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4434839"/>
            <a:ext cx="7132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9AA4B2"/>
                </a:solidFill>
                <a:latin typeface="Calibri"/>
                <a:ea typeface="Calibri"/>
              </a:rPr>
              <a:t>Dies without network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120640"/>
            <a:ext cx="10972800" cy="73152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51C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30352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51CF66"/>
                </a:solidFill>
                <a:latin typeface="Calibri"/>
                <a:ea typeface="Calibri"/>
              </a:rPr>
              <a:t>VoiceBridge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5303520"/>
            <a:ext cx="7132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9AA4B2"/>
                </a:solidFill>
                <a:latin typeface="Calibri"/>
                <a:ea typeface="Calibri"/>
              </a:rPr>
              <a:t>Acts + speaks + degrades gracefully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9AA4B2"/>
                </a:solidFill>
                <a:latin typeface="Calibri"/>
                <a:ea typeface="Calibri"/>
              </a:rPr>
              <a:t>VoiceBridge AI  ·  AssemblyAI Voice Agent Hackathon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9AA4B2"/>
                </a:solidFill>
                <a:latin typeface="Calibri"/>
                <a:ea typeface="Calibri"/>
              </a:rP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0F0FF"/>
                </a:solidFill>
                <a:latin typeface="Calibri"/>
                <a:ea typeface="Calibri"/>
              </a:rPr>
              <a:t>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F5F7FA"/>
                </a:solidFill>
                <a:latin typeface="Calibri"/>
                <a:ea typeface="Calibri"/>
              </a:rPr>
              <a:t>Who pays, why now, how we charge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1097280" cy="4572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669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00F0FF"/>
                </a:solidFill>
                <a:latin typeface="Calibri"/>
                <a:ea typeface="Calibri"/>
              </a:rPr>
              <a:t>▸  </a:t>
            </a:r>
            <a:r>
              <a:rPr sz="1600" b="0">
                <a:solidFill>
                  <a:srgbClr val="F5F7FA"/>
                </a:solidFill>
                <a:latin typeface="Calibri"/>
                <a:ea typeface="Calibri"/>
              </a:rPr>
              <a:t>Primary: blind / low-vision / motor-impaired users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00F0FF"/>
                </a:solidFill>
                <a:latin typeface="Calibri"/>
                <a:ea typeface="Calibri"/>
              </a:rPr>
              <a:t>▸  </a:t>
            </a:r>
            <a:r>
              <a:rPr sz="1600" b="0">
                <a:solidFill>
                  <a:srgbClr val="F5F7FA"/>
                </a:solidFill>
                <a:latin typeface="Calibri"/>
                <a:ea typeface="Calibri"/>
              </a:rPr>
              <a:t>Buyer: enterprise a11y &amp; digital workplace teams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00F0FF"/>
                </a:solidFill>
                <a:latin typeface="Calibri"/>
                <a:ea typeface="Calibri"/>
              </a:rPr>
              <a:t>▸  </a:t>
            </a:r>
            <a:r>
              <a:rPr sz="1600" b="0">
                <a:solidFill>
                  <a:srgbClr val="F5F7FA"/>
                </a:solidFill>
                <a:latin typeface="Calibri"/>
                <a:ea typeface="Calibri"/>
              </a:rPr>
              <a:t>Why now: WCAG + EN 301 549 enforcement expanding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00F0FF"/>
                </a:solidFill>
                <a:latin typeface="Calibri"/>
                <a:ea typeface="Calibri"/>
              </a:rPr>
              <a:t>▸  </a:t>
            </a:r>
            <a:r>
              <a:rPr sz="1600" b="0">
                <a:solidFill>
                  <a:srgbClr val="F5F7FA"/>
                </a:solidFill>
                <a:latin typeface="Calibri"/>
                <a:ea typeface="Calibri"/>
              </a:rPr>
              <a:t>Why AI: only a realtime voice agent with tools can understand free speech and write product state in one turn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645920"/>
            <a:ext cx="4846320" cy="11430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78308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5F7FA"/>
                </a:solidFill>
                <a:latin typeface="Calibri"/>
                <a:ea typeface="Calibri"/>
              </a:rPr>
              <a:t>Personal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1783080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600" b="1">
                <a:solidFill>
                  <a:srgbClr val="00F0FF"/>
                </a:solidFill>
                <a:latin typeface="Calibri"/>
                <a:ea typeface="Calibri"/>
              </a:rPr>
              <a:t>$12/mo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2240280"/>
            <a:ext cx="4389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AA4B2"/>
                </a:solidFill>
                <a:latin typeface="Calibri"/>
                <a:ea typeface="Calibri"/>
              </a:rPr>
              <a:t>Browser agent, fallback, export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2926080"/>
            <a:ext cx="4846320" cy="11430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3720" y="306324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5F7FA"/>
                </a:solidFill>
                <a:latin typeface="Calibri"/>
                <a:ea typeface="Calibri"/>
              </a:rPr>
              <a:t>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3063240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600" b="1">
                <a:solidFill>
                  <a:srgbClr val="00F0FF"/>
                </a:solidFill>
                <a:latin typeface="Calibri"/>
                <a:ea typeface="Calibri"/>
              </a:rPr>
              <a:t>$49/seat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3520440"/>
            <a:ext cx="4389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AA4B2"/>
                </a:solidFill>
                <a:latin typeface="Calibri"/>
                <a:ea typeface="Calibri"/>
              </a:rPr>
              <a:t>Shared prefs, history, audit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4206240"/>
            <a:ext cx="4846320" cy="11430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434340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5F7FA"/>
                </a:solidFill>
                <a:latin typeface="Calibri"/>
                <a:ea typeface="Calibri"/>
              </a:rPr>
              <a:t>Enterprise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4343400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600" b="1">
                <a:solidFill>
                  <a:srgbClr val="00F0FF"/>
                </a:solidFill>
                <a:latin typeface="Calibri"/>
                <a:ea typeface="Calibri"/>
              </a:rPr>
              <a:t>Custom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4800600"/>
            <a:ext cx="4389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AA4B2"/>
                </a:solidFill>
                <a:latin typeface="Calibri"/>
                <a:ea typeface="Calibri"/>
              </a:rPr>
              <a:t>SSO, private deploy, Twilio phone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9AA4B2"/>
                </a:solidFill>
                <a:latin typeface="Calibri"/>
                <a:ea typeface="Calibri"/>
              </a:rPr>
              <a:t>VoiceBridge AI  ·  AssemblyAI Voice Agent Hackathon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9AA4B2"/>
                </a:solidFill>
                <a:latin typeface="Calibri"/>
                <a:ea typeface="Calibri"/>
              </a:rP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0F0FF"/>
                </a:solidFill>
                <a:latin typeface="Calibri"/>
                <a:ea typeface="Calibri"/>
              </a:rPr>
              <a:t>BUILD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F5F7FA"/>
                </a:solidFill>
                <a:latin typeface="Calibri"/>
                <a:ea typeface="Calibri"/>
              </a:rPr>
              <a:t>Production-shaped, not a weekend spike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1097280" cy="4572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5486400" cy="141732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49377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00F0FF"/>
                </a:solidFill>
                <a:latin typeface="Calibri"/>
                <a:ea typeface="Calibr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4937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9AA4B2"/>
                </a:solidFill>
                <a:latin typeface="Calibri"/>
                <a:ea typeface="Calibri"/>
              </a:rPr>
              <a:t>API routes, auth-wrapped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45920"/>
            <a:ext cx="5486400" cy="141732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51C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874520"/>
            <a:ext cx="49377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51CF66"/>
                </a:solidFill>
                <a:latin typeface="Calibri"/>
                <a:ea typeface="Calibri"/>
              </a:rPr>
              <a:t>8/8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514600"/>
            <a:ext cx="4937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9AA4B2"/>
                </a:solidFill>
                <a:latin typeface="Calibri"/>
                <a:ea typeface="Calibri"/>
              </a:rPr>
              <a:t>Orchestrator unit tests pass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291840"/>
            <a:ext cx="5486400" cy="141732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51C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20440"/>
            <a:ext cx="49377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51CF66"/>
                </a:solidFill>
                <a:latin typeface="Calibri"/>
                <a:ea typeface="Calibri"/>
              </a:rPr>
              <a:t>E2E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60520"/>
            <a:ext cx="4937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9AA4B2"/>
                </a:solidFill>
                <a:latin typeface="Calibri"/>
                <a:ea typeface="Calibri"/>
              </a:rPr>
              <a:t>Playwright golden-path flyover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291840"/>
            <a:ext cx="5486400" cy="141732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5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3520440"/>
            <a:ext cx="49377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5CE0D8"/>
                </a:solidFill>
                <a:latin typeface="Calibri"/>
                <a:ea typeface="Calibri"/>
              </a:rPr>
              <a:t>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160520"/>
            <a:ext cx="4937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9AA4B2"/>
                </a:solidFill>
                <a:latin typeface="Calibri"/>
                <a:ea typeface="Calibri"/>
              </a:rPr>
              <a:t>Security controls verified live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51CF66"/>
                </a:solidFill>
                <a:latin typeface="Calibri"/>
                <a:ea typeface="Calibri"/>
              </a:rPr>
              <a:t>▸  </a:t>
            </a:r>
            <a:r>
              <a:rPr sz="1400" b="0">
                <a:solidFill>
                  <a:srgbClr val="F5F7FA"/>
                </a:solidFill>
                <a:latin typeface="Calibri"/>
                <a:ea typeface="Calibri"/>
              </a:rPr>
              <a:t>Stored AssemblyAI agent published (agent_id connect path)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51CF66"/>
                </a:solidFill>
                <a:latin typeface="Calibri"/>
                <a:ea typeface="Calibri"/>
              </a:rPr>
              <a:t>▸  </a:t>
            </a:r>
            <a:r>
              <a:rPr sz="1400" b="0">
                <a:solidFill>
                  <a:srgbClr val="F5F7FA"/>
                </a:solidFill>
                <a:latin typeface="Calibri"/>
                <a:ea typeface="Calibri"/>
              </a:rPr>
              <a:t>Judge demo video + README + submission kit in repo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9AA4B2"/>
                </a:solidFill>
                <a:latin typeface="Calibri"/>
                <a:ea typeface="Calibri"/>
              </a:rPr>
              <a:t>VoiceBridge AI  ·  AssemblyAI Voice Agent Hackathon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9AA4B2"/>
                </a:solidFill>
                <a:latin typeface="Calibri"/>
                <a:ea typeface="Calibri"/>
              </a:rP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0F0FF"/>
                </a:solidFill>
                <a:latin typeface="Calibri"/>
                <a:ea typeface="Calibri"/>
              </a:rPr>
              <a:t>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F5F7FA"/>
                </a:solidFill>
                <a:latin typeface="Calibri"/>
                <a:ea typeface="Calibri"/>
              </a:rPr>
              <a:t>Roadmap and what we need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1097280" cy="4572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669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00F0FF"/>
                </a:solidFill>
                <a:latin typeface="Calibri"/>
                <a:ea typeface="Calibri"/>
              </a:rPr>
              <a:t>▸  </a:t>
            </a:r>
            <a:r>
              <a:rPr sz="1700" b="0">
                <a:solidFill>
                  <a:srgbClr val="F5F7FA"/>
                </a:solidFill>
                <a:latin typeface="Calibri"/>
                <a:ea typeface="Calibri"/>
              </a:rPr>
              <a:t>Phone channel via Twilio SIP (AssemblyAI telephony path)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00F0FF"/>
                </a:solidFill>
                <a:latin typeface="Calibri"/>
                <a:ea typeface="Calibri"/>
              </a:rPr>
              <a:t>▸  </a:t>
            </a:r>
            <a:r>
              <a:rPr sz="1700" b="0">
                <a:solidFill>
                  <a:srgbClr val="F5F7FA"/>
                </a:solidFill>
                <a:latin typeface="Calibri"/>
                <a:ea typeface="Calibri"/>
              </a:rPr>
              <a:t>Multi-user auth + enterprise SSO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00F0FF"/>
                </a:solidFill>
                <a:latin typeface="Calibri"/>
                <a:ea typeface="Calibri"/>
              </a:rPr>
              <a:t>▸  </a:t>
            </a:r>
            <a:r>
              <a:rPr sz="1700" b="0">
                <a:solidFill>
                  <a:srgbClr val="F5F7FA"/>
                </a:solidFill>
                <a:latin typeface="Calibri"/>
                <a:ea typeface="Calibri"/>
              </a:rPr>
              <a:t>Richer vision tools (element targeting, form fill)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00F0FF"/>
                </a:solidFill>
                <a:latin typeface="Calibri"/>
                <a:ea typeface="Calibri"/>
              </a:rPr>
              <a:t>▸  </a:t>
            </a:r>
            <a:r>
              <a:rPr sz="1700" b="0">
                <a:solidFill>
                  <a:srgbClr val="F5F7FA"/>
                </a:solidFill>
                <a:latin typeface="Calibri"/>
                <a:ea typeface="Calibri"/>
              </a:rPr>
              <a:t>Bluejay simulation scoring for agent quality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645920"/>
            <a:ext cx="4846320" cy="384048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920240"/>
            <a:ext cx="4389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0F0FF"/>
                </a:solidFill>
                <a:latin typeface="Calibri"/>
                <a:ea typeface="Calibri"/>
              </a:rPr>
              <a:t>THE 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2423160"/>
            <a:ext cx="4389120" cy="2560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F5F7FA"/>
                </a:solidFill>
                <a:latin typeface="Calibri"/>
                <a:ea typeface="Calibri"/>
              </a:rPr>
              <a:t>Ship VoiceBridge to users who
cannot afford to wait for a
mouse-first web to catch up.
Prize credits → production
AssemblyAI minutes + phone
pilot with accessibility testers.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AA4B2"/>
                </a:solidFill>
                <a:latin typeface="Calibri"/>
                <a:ea typeface="Calibri"/>
              </a:rPr>
              <a:t>github.com/BROCKUGANDA/voicebridge-ai  ·  AssemblyAI Voice Agent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9AA4B2"/>
                </a:solidFill>
                <a:latin typeface="Calibri"/>
                <a:ea typeface="Calibri"/>
              </a:rPr>
              <a:t>VoiceBridge AI  ·  AssemblyAI Voice Agent Hackathon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9AA4B2"/>
                </a:solidFill>
                <a:latin typeface="Calibri"/>
                <a:ea typeface="Calibri"/>
              </a:rP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name="CWM73a7ce90a88511f19d76d7bc1d76d6bc" pid="2" fmtid="{D5CDD505-2E9C-101B-9397-08002B2CF9AE}">
    <vt:lpwstr>CWMKuCX5SV1UQL2tw46chOcCHkgHjME0rI0HRBJFFMyFH4dVBmnh2Bbwo/cOPn1ZUe6fzhHtDFD/4IjH68FerVl9w==</vt:lpwstr>
  </property>
</Properties>
</file>